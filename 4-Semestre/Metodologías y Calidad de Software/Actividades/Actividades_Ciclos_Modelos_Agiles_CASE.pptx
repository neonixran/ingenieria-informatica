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09_0.xml" ContentType="application/vnd.ms-powerpoint.comments+xml"/>
  <Override PartName="/ppt/notesSlides/notesSlide7.xml" ContentType="application/vnd.openxmlformats-officedocument.presentationml.notesSlide+xml"/>
  <Override PartName="/ppt/comments/modernComment_10A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1" r:id="rId5"/>
    <p:sldId id="263" r:id="rId6"/>
    <p:sldId id="265" r:id="rId7"/>
    <p:sldId id="266" r:id="rId8"/>
    <p:sldId id="267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95D5A63-5B10-9FE1-E1DB-9099B9263408}" name="Alumnos" initials="A" userId="Alumnos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78" autoAdjust="0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25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modernComment_10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BF127C0-3C35-448A-B375-D5EB45E36273}" authorId="{B95D5A63-5B10-9FE1-E1DB-9099B9263408}" created="2026-09-02T19:50:58.02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6"/>
      <ac:spMk id="4" creationId="{74CAC244-74D4-D9DB-D165-CF9C1074A347}"/>
      <ac:txMk cp="36" len="87">
        <ac:context len="274" hash="3648555440"/>
      </ac:txMk>
    </ac:txMkLst>
    <p188:pos x="4205456" y="599565"/>
    <p188:txBody>
      <a:bodyPr/>
      <a:lstStyle/>
      <a:p>
        <a:r>
          <a:rPr lang="es-CL"/>
          <a:t>La información mostrada es suficiente para saber dónde y cuándo debe asistir.</a:t>
        </a:r>
      </a:p>
    </p188:txBody>
  </p188:cm>
  <p188:cm id="{21922809-3D36-40C8-A5C8-C2698A407872}" authorId="{B95D5A63-5B10-9FE1-E1DB-9099B9263408}" created="2026-09-02T19:52:26.75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6"/>
      <ac:spMk id="4" creationId="{74CAC244-74D4-D9DB-D165-CF9C1074A347}"/>
      <ac:txMk cp="196" len="76">
        <ac:context len="274" hash="3648555440"/>
      </ac:txMk>
    </ac:txMkLst>
    <p188:pos x="4361867" y="1971165"/>
    <p188:txBody>
      <a:bodyPr/>
      <a:lstStyle/>
      <a:p>
        <a:r>
          <a:rPr lang="es-CL"/>
          <a:t>Si le resulta cómoda la disposición de elementos mostrados en la pantalla.</a:t>
        </a:r>
      </a:p>
    </p188:txBody>
  </p188:cm>
  <p188:cm id="{45911F14-4986-4794-8C58-DB3020D7D05B}" authorId="{B95D5A63-5B10-9FE1-E1DB-9099B9263408}" created="2026-09-02T19:53:38.44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6"/>
      <ac:spMk id="4" creationId="{74CAC244-74D4-D9DB-D165-CF9C1074A347}"/>
      <ac:txMk cp="124" len="71">
        <ac:context len="274" hash="3648555440"/>
      </ac:txMk>
    </ac:txMkLst>
    <p188:pos x="4085141" y="1429744"/>
    <p188:txBody>
      <a:bodyPr/>
      <a:lstStyle/>
      <a:p>
        <a:r>
          <a:rPr lang="es-CL"/>
          <a:t>Resulta cómoda, mostrándose todo en vertical en un teléfono móvil.</a:t>
        </a:r>
      </a:p>
    </p188:txBody>
  </p188:cm>
</p188:cmLst>
</file>

<file path=ppt/comments/modernComment_10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86DD095-2E8B-473E-A5FE-E5BF0E708B1C}" authorId="{B95D5A63-5B10-9FE1-E1DB-9099B9263408}" created="2026-09-02T19:26:29.92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5"/>
      <ac:spMk id="11" creationId="{00000000-0000-0000-0000-000000000000}"/>
    </ac:deMkLst>
    <p188:txBody>
      <a:bodyPr/>
      <a:lstStyle/>
      <a:p>
        <a:r>
          <a:rPr lang="es-CL"/>
          <a:t>Scrum es una metodología ágil, no tradicional.</a:t>
        </a:r>
      </a:p>
    </p188:txBody>
  </p188:cm>
  <p188:cm id="{89F4B364-6A94-4782-90B5-AD7C0F680D29}" authorId="{B95D5A63-5B10-9FE1-E1DB-9099B9263408}" created="2026-09-02T19:28:03.7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5"/>
      <ac:spMk id="25" creationId="{00000000-0000-0000-0000-000000000000}"/>
    </ac:deMkLst>
    <p188:txBody>
      <a:bodyPr/>
      <a:lstStyle/>
      <a:p>
        <a:r>
          <a:rPr lang="es-CL"/>
          <a:t>Prototipar significa construir una versión preliminar para aclarar requisitos y recibir retroalimentación.</a:t>
        </a:r>
      </a:p>
    </p188:txBody>
  </p188:cm>
  <p188:cm id="{D9ABD059-80A4-4D83-A1B5-C4D4233C1B23}" authorId="{B95D5A63-5B10-9FE1-E1DB-9099B9263408}" created="2026-09-02T19:29:24.67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5"/>
      <ac:spMk id="30" creationId="{00000000-0000-0000-0000-000000000000}"/>
    </ac:deMkLst>
    <p188:txBody>
      <a:bodyPr/>
      <a:lstStyle/>
      <a:p>
        <a:r>
          <a:rPr lang="es-CL"/>
          <a:t>Una herramienta CASE no reemplaza el trabajo de un analista, sino que aporta a su productividad.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15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9_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A_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_render/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62472" y="34015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ACTIVIDADES  CLASE 2-3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6062472" y="404164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Modelos, metodologías ágiles y herramientas CASE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062472" y="45079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</a:rPr>
              <a:t>Metodologías y Calidad del Software ·</a:t>
            </a:r>
            <a:endParaRPr lang="en-US" sz="125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8EA608B-E37D-28A1-589C-63F497A7C3EB}"/>
              </a:ext>
            </a:extLst>
          </p:cNvPr>
          <p:cNvSpPr txBox="1"/>
          <p:nvPr/>
        </p:nvSpPr>
        <p:spPr>
          <a:xfrm>
            <a:off x="5938683" y="5093110"/>
            <a:ext cx="1877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Josué Bravo</a:t>
            </a:r>
            <a:br>
              <a:rPr lang="es-CL" dirty="0">
                <a:solidFill>
                  <a:schemeClr val="bg1"/>
                </a:solidFill>
              </a:rPr>
            </a:br>
            <a:r>
              <a:rPr lang="es-CL" dirty="0">
                <a:solidFill>
                  <a:schemeClr val="bg1"/>
                </a:solidFill>
              </a:rPr>
              <a:t>Martín González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_render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0175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B67"/>
                </a:solidFill>
              </a:rPr>
              <a:t>1. ACTIVIDAD 1 · ESCOGER LA FORMA DE DESARROLLO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896112" y="868680"/>
            <a:ext cx="10378440" cy="530352"/>
          </a:xfrm>
          <a:prstGeom prst="rect">
            <a:avLst/>
          </a:prstGeom>
          <a:solidFill>
            <a:srgbClr val="FFF3D1"/>
          </a:solidFill>
          <a:ln w="12700">
            <a:solidFill>
              <a:srgbClr val="FFF3D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987552" y="98755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 err="1">
                <a:solidFill>
                  <a:srgbClr val="173B67"/>
                </a:solidFill>
              </a:rPr>
              <a:t>Relacionar</a:t>
            </a:r>
            <a:r>
              <a:rPr lang="en-US" sz="1620" b="1" dirty="0">
                <a:solidFill>
                  <a:srgbClr val="173B67"/>
                </a:solidFill>
              </a:rPr>
              <a:t> cada descripción con la forma correspondiente.</a:t>
            </a:r>
            <a:endParaRPr lang="en-US" sz="1620" dirty="0"/>
          </a:p>
        </p:txBody>
      </p:sp>
      <p:sp>
        <p:nvSpPr>
          <p:cNvPr id="6" name="Shape 3"/>
          <p:cNvSpPr/>
          <p:nvPr/>
        </p:nvSpPr>
        <p:spPr>
          <a:xfrm>
            <a:off x="960120" y="1691640"/>
            <a:ext cx="7315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 rot="10800000" flipV="1">
            <a:off x="1069848" y="1746504"/>
            <a:ext cx="7095744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Se avanza principalmente por etapas sucesivas.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8549640" y="1764792"/>
            <a:ext cx="2514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s-CL" dirty="0"/>
              <a:t>Cascada</a:t>
            </a:r>
          </a:p>
        </p:txBody>
      </p:sp>
      <p:sp>
        <p:nvSpPr>
          <p:cNvPr id="10" name="Text 7"/>
          <p:cNvSpPr/>
          <p:nvPr/>
        </p:nvSpPr>
        <p:spPr>
          <a:xfrm>
            <a:off x="8705088" y="1883663"/>
            <a:ext cx="2103120" cy="201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: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60120" y="2377440"/>
            <a:ext cx="7315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1069848" y="2450592"/>
            <a:ext cx="7095744" cy="4800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El sistema se construye y entrega por partes.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8549640" y="2450592"/>
            <a:ext cx="2514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s-CL" dirty="0"/>
              <a:t>Incremental</a:t>
            </a:r>
          </a:p>
        </p:txBody>
      </p:sp>
      <p:sp>
        <p:nvSpPr>
          <p:cNvPr id="15" name="Text 12"/>
          <p:cNvSpPr/>
          <p:nvPr/>
        </p:nvSpPr>
        <p:spPr>
          <a:xfrm>
            <a:off x="8705088" y="2569464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: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60120" y="3063240"/>
            <a:ext cx="7315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1069848" y="3147822"/>
            <a:ext cx="7095744" cy="5257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Se aprovechan componentes que ya existen.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8549640" y="3136392"/>
            <a:ext cx="2514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s-CL" dirty="0"/>
              <a:t>Reutilización</a:t>
            </a:r>
          </a:p>
        </p:txBody>
      </p:sp>
      <p:sp>
        <p:nvSpPr>
          <p:cNvPr id="20" name="Text 17"/>
          <p:cNvSpPr/>
          <p:nvPr/>
        </p:nvSpPr>
        <p:spPr>
          <a:xfrm>
            <a:off x="8705088" y="32552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7315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1069848" y="3792474"/>
            <a:ext cx="7095744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Se crea una versión preliminar para aclarar necesidades.</a:t>
            </a:r>
            <a:endParaRPr lang="en-US" sz="1230" dirty="0"/>
          </a:p>
        </p:txBody>
      </p:sp>
      <p:sp>
        <p:nvSpPr>
          <p:cNvPr id="24" name="Shape 21"/>
          <p:cNvSpPr/>
          <p:nvPr/>
        </p:nvSpPr>
        <p:spPr>
          <a:xfrm>
            <a:off x="8549640" y="3822192"/>
            <a:ext cx="2514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s-CL" dirty="0"/>
              <a:t>Prototipado</a:t>
            </a:r>
          </a:p>
        </p:txBody>
      </p:sp>
      <p:sp>
        <p:nvSpPr>
          <p:cNvPr id="25" name="Text 22"/>
          <p:cNvSpPr/>
          <p:nvPr/>
        </p:nvSpPr>
        <p:spPr>
          <a:xfrm>
            <a:off x="8705088" y="39410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60120" y="4434840"/>
            <a:ext cx="7315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1069848" y="4562856"/>
            <a:ext cx="709574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Se avanza por ciclos identificando qué podría salir mal antes de continuar.</a:t>
            </a:r>
            <a:endParaRPr lang="en-US" sz="1230" dirty="0"/>
          </a:p>
        </p:txBody>
      </p:sp>
      <p:sp>
        <p:nvSpPr>
          <p:cNvPr id="29" name="Shape 26"/>
          <p:cNvSpPr/>
          <p:nvPr/>
        </p:nvSpPr>
        <p:spPr>
          <a:xfrm>
            <a:off x="8549640" y="4507992"/>
            <a:ext cx="2514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s-CL" dirty="0"/>
              <a:t>Espiral</a:t>
            </a:r>
          </a:p>
        </p:txBody>
      </p:sp>
      <p:sp>
        <p:nvSpPr>
          <p:cNvPr id="30" name="Text 27"/>
          <p:cNvSpPr/>
          <p:nvPr/>
        </p:nvSpPr>
        <p:spPr>
          <a:xfrm>
            <a:off x="8705088" y="46268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14400" y="6016752"/>
            <a:ext cx="10195560" cy="347472"/>
          </a:xfrm>
          <a:prstGeom prst="rect">
            <a:avLst/>
          </a:prstGeom>
          <a:solidFill>
            <a:srgbClr val="EAF2F9"/>
          </a:solidFill>
          <a:ln w="12700">
            <a:solidFill>
              <a:srgbClr val="EAF2F9"/>
            </a:solidFill>
            <a:prstDash val="solid"/>
          </a:ln>
        </p:spPr>
        <p:txBody>
          <a:bodyPr/>
          <a:lstStyle/>
          <a:p>
            <a:pPr algn="ctr"/>
            <a:endParaRPr lang="es-CL" sz="2000" dirty="0"/>
          </a:p>
        </p:txBody>
      </p:sp>
      <p:sp>
        <p:nvSpPr>
          <p:cNvPr id="32" name="Text 29"/>
          <p:cNvSpPr/>
          <p:nvPr/>
        </p:nvSpPr>
        <p:spPr>
          <a:xfrm>
            <a:off x="987552" y="6094476"/>
            <a:ext cx="10058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827"/>
                </a:solidFill>
              </a:rPr>
              <a:t>Opciones: cascada · incremental · reutilización · prototipado · espiral</a:t>
            </a:r>
            <a:endParaRPr lang="en-US" sz="125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F9A63C5-60C1-A9B7-E905-7D02703D65D9}"/>
              </a:ext>
            </a:extLst>
          </p:cNvPr>
          <p:cNvSpPr txBox="1"/>
          <p:nvPr/>
        </p:nvSpPr>
        <p:spPr>
          <a:xfrm>
            <a:off x="8654689" y="1372791"/>
            <a:ext cx="2203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RESPUESTA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_render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0175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B67"/>
                </a:solidFill>
              </a:rPr>
              <a:t>2. ACTIVIDAD 2 · COMPRENDER EL CICLO DE SCRUM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896112" y="868680"/>
            <a:ext cx="10378440" cy="530352"/>
          </a:xfrm>
          <a:prstGeom prst="rect">
            <a:avLst/>
          </a:prstGeom>
          <a:solidFill>
            <a:srgbClr val="FFF3D1"/>
          </a:solidFill>
          <a:ln w="12700">
            <a:solidFill>
              <a:srgbClr val="FFF3D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987552" y="98755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 err="1">
                <a:solidFill>
                  <a:srgbClr val="173B67"/>
                </a:solidFill>
              </a:rPr>
              <a:t>Clasificar</a:t>
            </a:r>
            <a:r>
              <a:rPr lang="en-US" sz="1620" b="1" dirty="0">
                <a:solidFill>
                  <a:srgbClr val="173B67"/>
                </a:solidFill>
              </a:rPr>
              <a:t> </a:t>
            </a:r>
            <a:r>
              <a:rPr lang="en-US" sz="1620" b="1" dirty="0" err="1">
                <a:solidFill>
                  <a:srgbClr val="173B67"/>
                </a:solidFill>
              </a:rPr>
              <a:t>cada</a:t>
            </a:r>
            <a:r>
              <a:rPr lang="en-US" sz="1620" b="1" dirty="0">
                <a:solidFill>
                  <a:srgbClr val="173B67"/>
                </a:solidFill>
              </a:rPr>
              <a:t> </a:t>
            </a:r>
            <a:r>
              <a:rPr lang="en-US" sz="1620" b="1" dirty="0" err="1">
                <a:solidFill>
                  <a:srgbClr val="173B67"/>
                </a:solidFill>
              </a:rPr>
              <a:t>elemento</a:t>
            </a:r>
            <a:r>
              <a:rPr lang="en-US" sz="1620" b="1" dirty="0">
                <a:solidFill>
                  <a:srgbClr val="173B67"/>
                </a:solidFill>
              </a:rPr>
              <a:t> </a:t>
            </a:r>
            <a:r>
              <a:rPr lang="en-US" sz="1620" b="1" dirty="0" err="1">
                <a:solidFill>
                  <a:srgbClr val="173B67"/>
                </a:solidFill>
              </a:rPr>
              <a:t>como</a:t>
            </a:r>
            <a:r>
              <a:rPr lang="en-US" sz="1620" b="1" dirty="0">
                <a:solidFill>
                  <a:srgbClr val="173B67"/>
                </a:solidFill>
              </a:rPr>
              <a:t> Rol, </a:t>
            </a:r>
            <a:r>
              <a:rPr lang="en-US" sz="1620" b="1" dirty="0" err="1">
                <a:solidFill>
                  <a:srgbClr val="173B67"/>
                </a:solidFill>
              </a:rPr>
              <a:t>Artefacto</a:t>
            </a:r>
            <a:r>
              <a:rPr lang="en-US" sz="1620" b="1" dirty="0">
                <a:solidFill>
                  <a:srgbClr val="173B67"/>
                </a:solidFill>
              </a:rPr>
              <a:t> o </a:t>
            </a:r>
            <a:r>
              <a:rPr lang="en-US" sz="1620" b="1" dirty="0" err="1">
                <a:solidFill>
                  <a:srgbClr val="173B67"/>
                </a:solidFill>
              </a:rPr>
              <a:t>Evento</a:t>
            </a:r>
            <a:r>
              <a:rPr lang="en-US" sz="1620" b="1" dirty="0">
                <a:solidFill>
                  <a:srgbClr val="173B67"/>
                </a:solidFill>
              </a:rPr>
              <a:t>.</a:t>
            </a:r>
            <a:endParaRPr lang="en-US" sz="1620" dirty="0"/>
          </a:p>
        </p:txBody>
      </p:sp>
      <p:graphicFrame>
        <p:nvGraphicFramePr>
          <p:cNvPr id="28" name="Tabla 27">
            <a:extLst>
              <a:ext uri="{FF2B5EF4-FFF2-40B4-BE49-F238E27FC236}">
                <a16:creationId xmlns:a16="http://schemas.microsoft.com/office/drawing/2014/main" id="{02989FCD-32A9-C776-3876-BF0433BEF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986292"/>
              </p:ext>
            </p:extLst>
          </p:nvPr>
        </p:nvGraphicFramePr>
        <p:xfrm>
          <a:off x="1477926" y="1755485"/>
          <a:ext cx="5550195" cy="4464559"/>
        </p:xfrm>
        <a:graphic>
          <a:graphicData uri="http://schemas.openxmlformats.org/drawingml/2006/table">
            <a:tbl>
              <a:tblPr firstRow="1" firstCol="1" bandRow="1">
                <a:tableStyleId>{5A111915-BE36-4E01-A7E5-04B1672EAD32}</a:tableStyleId>
              </a:tblPr>
              <a:tblGrid>
                <a:gridCol w="2727821">
                  <a:extLst>
                    <a:ext uri="{9D8B030D-6E8A-4147-A177-3AD203B41FA5}">
                      <a16:colId xmlns:a16="http://schemas.microsoft.com/office/drawing/2014/main" val="654984314"/>
                    </a:ext>
                  </a:extLst>
                </a:gridCol>
                <a:gridCol w="2822374">
                  <a:extLst>
                    <a:ext uri="{9D8B030D-6E8A-4147-A177-3AD203B41FA5}">
                      <a16:colId xmlns:a16="http://schemas.microsoft.com/office/drawing/2014/main" val="2371629367"/>
                    </a:ext>
                  </a:extLst>
                </a:gridCol>
              </a:tblGrid>
              <a:tr h="4058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100" kern="100">
                          <a:effectLst/>
                        </a:rPr>
                        <a:t>Concepto</a:t>
                      </a:r>
                      <a:endParaRPr lang="es-CL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100" kern="100" dirty="0">
                          <a:effectLst/>
                        </a:rPr>
                        <a:t>Respuesta</a:t>
                      </a:r>
                      <a:endParaRPr lang="es-CL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9283177"/>
                  </a:ext>
                </a:extLst>
              </a:tr>
              <a:tr h="4058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 err="1">
                          <a:effectLst/>
                        </a:rPr>
                        <a:t>Product</a:t>
                      </a:r>
                      <a:r>
                        <a:rPr lang="es-CL" sz="1200" kern="100" dirty="0">
                          <a:effectLst/>
                        </a:rPr>
                        <a:t> Owner</a:t>
                      </a:r>
                      <a:endParaRPr lang="es-C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4106360"/>
                  </a:ext>
                </a:extLst>
              </a:tr>
              <a:tr h="4058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 err="1">
                          <a:effectLst/>
                        </a:rPr>
                        <a:t>Product</a:t>
                      </a:r>
                      <a:r>
                        <a:rPr lang="es-CL" sz="1200" kern="100" dirty="0">
                          <a:effectLst/>
                        </a:rPr>
                        <a:t> Backlog</a:t>
                      </a:r>
                      <a:endParaRPr lang="es-C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Artefacto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286764"/>
                  </a:ext>
                </a:extLst>
              </a:tr>
              <a:tr h="4058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</a:rPr>
                        <a:t>Daily</a:t>
                      </a:r>
                      <a:endParaRPr lang="es-C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Evento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6911947"/>
                  </a:ext>
                </a:extLst>
              </a:tr>
              <a:tr h="4058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</a:rPr>
                        <a:t>Scrum Master</a:t>
                      </a:r>
                      <a:endParaRPr lang="es-C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1154594"/>
                  </a:ext>
                </a:extLst>
              </a:tr>
              <a:tr h="4058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</a:rPr>
                        <a:t>Incremento</a:t>
                      </a:r>
                      <a:endParaRPr lang="es-C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Artefacto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2711358"/>
                  </a:ext>
                </a:extLst>
              </a:tr>
              <a:tr h="4058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</a:rPr>
                        <a:t>Retrospectiva</a:t>
                      </a:r>
                      <a:endParaRPr lang="es-C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Evento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2931962"/>
                  </a:ext>
                </a:extLst>
              </a:tr>
              <a:tr h="4058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</a:rPr>
                        <a:t>Equipo de desarrollo</a:t>
                      </a:r>
                      <a:endParaRPr lang="es-C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5161337"/>
                  </a:ext>
                </a:extLst>
              </a:tr>
              <a:tr h="4058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</a:rPr>
                        <a:t>Sprint Backlog</a:t>
                      </a:r>
                      <a:endParaRPr lang="es-C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Artefacto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3385417"/>
                  </a:ext>
                </a:extLst>
              </a:tr>
              <a:tr h="4058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</a:rPr>
                        <a:t>Revisión</a:t>
                      </a:r>
                      <a:endParaRPr lang="es-C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Evento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767867"/>
                  </a:ext>
                </a:extLst>
              </a:tr>
              <a:tr h="4058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</a:rPr>
                        <a:t>Planificación</a:t>
                      </a:r>
                      <a:endParaRPr lang="es-CL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L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Evento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8178729"/>
                  </a:ext>
                </a:extLst>
              </a:tr>
            </a:tbl>
          </a:graphicData>
        </a:graphic>
      </p:graphicFrame>
      <p:sp>
        <p:nvSpPr>
          <p:cNvPr id="29" name="CuadroTexto 28">
            <a:extLst>
              <a:ext uri="{FF2B5EF4-FFF2-40B4-BE49-F238E27FC236}">
                <a16:creationId xmlns:a16="http://schemas.microsoft.com/office/drawing/2014/main" id="{440C7C36-D3C9-54AA-7592-3C95B65217C2}"/>
              </a:ext>
            </a:extLst>
          </p:cNvPr>
          <p:cNvSpPr txBox="1"/>
          <p:nvPr/>
        </p:nvSpPr>
        <p:spPr>
          <a:xfrm>
            <a:off x="8761228" y="1653632"/>
            <a:ext cx="281762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¿Quién representa y prioriza las necesidades del producto? Producto </a:t>
            </a:r>
            <a:r>
              <a:rPr lang="es-MX" dirty="0" err="1"/>
              <a:t>Owner</a:t>
            </a:r>
            <a:endParaRPr lang="es-MX" dirty="0"/>
          </a:p>
          <a:p>
            <a:br>
              <a:rPr lang="es-MX" dirty="0"/>
            </a:br>
            <a:r>
              <a:rPr lang="es-MX" dirty="0"/>
              <a:t> </a:t>
            </a:r>
          </a:p>
          <a:p>
            <a:r>
              <a:rPr lang="es-MX" dirty="0"/>
              <a:t>¿Qué artefacto contiene el trabajo seleccionado para realizar? Sprint backlog</a:t>
            </a:r>
          </a:p>
          <a:p>
            <a:br>
              <a:rPr lang="es-MX" dirty="0"/>
            </a:br>
            <a:endParaRPr lang="es-MX" dirty="0"/>
          </a:p>
          <a:p>
            <a:r>
              <a:rPr lang="es-MX" dirty="0"/>
              <a:t>¿En qué evento el equipo analiza cómo trabajó y qué puede mejorar? Retrospectiva</a:t>
            </a:r>
          </a:p>
          <a:p>
            <a:endParaRPr lang="es-MX" dirty="0"/>
          </a:p>
          <a:p>
            <a:endParaRPr lang="es-CL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_render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0175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B67"/>
                </a:solidFill>
              </a:rPr>
              <a:t>3. ACTIVIDAD 3 · ¿A QUÉ PRÁCTICA DE XP CORRESPONDE?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896112" y="868680"/>
            <a:ext cx="10378440" cy="530352"/>
          </a:xfrm>
          <a:prstGeom prst="rect">
            <a:avLst/>
          </a:prstGeom>
          <a:solidFill>
            <a:srgbClr val="FFF3D1"/>
          </a:solidFill>
          <a:ln w="12700">
            <a:solidFill>
              <a:srgbClr val="FFF3D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987552" y="98755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 err="1">
                <a:solidFill>
                  <a:srgbClr val="173B67"/>
                </a:solidFill>
              </a:rPr>
              <a:t>Relacionar</a:t>
            </a:r>
            <a:r>
              <a:rPr lang="en-US" sz="1620" b="1" dirty="0">
                <a:solidFill>
                  <a:srgbClr val="173B67"/>
                </a:solidFill>
              </a:rPr>
              <a:t> cada situación con la práctica de XP.</a:t>
            </a:r>
            <a:endParaRPr lang="en-US" sz="1620" dirty="0"/>
          </a:p>
        </p:txBody>
      </p:sp>
      <p:sp>
        <p:nvSpPr>
          <p:cNvPr id="6" name="Shape 3"/>
          <p:cNvSpPr/>
          <p:nvPr/>
        </p:nvSpPr>
        <p:spPr>
          <a:xfrm>
            <a:off x="960120" y="1673352"/>
            <a:ext cx="690372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1069848" y="1783080"/>
            <a:ext cx="6684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280" dirty="0"/>
          </a:p>
        </p:txBody>
      </p:sp>
      <p:sp>
        <p:nvSpPr>
          <p:cNvPr id="8" name="Text 5"/>
          <p:cNvSpPr/>
          <p:nvPr/>
        </p:nvSpPr>
        <p:spPr>
          <a:xfrm>
            <a:off x="1069848" y="1783080"/>
            <a:ext cx="6684264" cy="356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Dos desarrolladores trabajan juntos sobre el mismo código.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8183880" y="1746504"/>
            <a:ext cx="27889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s-CL" dirty="0"/>
              <a:t>Programación en parejas			</a:t>
            </a:r>
          </a:p>
        </p:txBody>
      </p:sp>
      <p:sp>
        <p:nvSpPr>
          <p:cNvPr id="10" name="Text 7"/>
          <p:cNvSpPr/>
          <p:nvPr/>
        </p:nvSpPr>
        <p:spPr>
          <a:xfrm>
            <a:off x="8321040" y="18653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: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60120" y="2359152"/>
            <a:ext cx="690372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1069848" y="2414016"/>
            <a:ext cx="668426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Se comprueba constantemente que las funciones sigan funcionando.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8183880" y="2432304"/>
            <a:ext cx="27889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s-CL" dirty="0"/>
              <a:t>Pruebas frecuentes</a:t>
            </a:r>
          </a:p>
        </p:txBody>
      </p:sp>
      <p:sp>
        <p:nvSpPr>
          <p:cNvPr id="15" name="Text 12"/>
          <p:cNvSpPr/>
          <p:nvPr/>
        </p:nvSpPr>
        <p:spPr>
          <a:xfrm>
            <a:off x="8321040" y="25511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: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60120" y="3044952"/>
            <a:ext cx="690372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 rot="10800000" flipV="1">
            <a:off x="1069848" y="3017520"/>
            <a:ext cx="6684264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Los cambios se incorporan regularmente al sistema común.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8183880" y="3118104"/>
            <a:ext cx="27889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s-CL" dirty="0"/>
              <a:t>Integración continua</a:t>
            </a:r>
          </a:p>
        </p:txBody>
      </p:sp>
      <p:sp>
        <p:nvSpPr>
          <p:cNvPr id="20" name="Text 17"/>
          <p:cNvSpPr/>
          <p:nvPr/>
        </p:nvSpPr>
        <p:spPr>
          <a:xfrm>
            <a:off x="8321040" y="3236976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: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60120" y="3730752"/>
            <a:ext cx="690372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1069848" y="3822192"/>
            <a:ext cx="6684264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Se reorganiza código difícil de mantener sin modificar lo que hace.</a:t>
            </a:r>
            <a:endParaRPr lang="en-US" sz="1230" dirty="0"/>
          </a:p>
        </p:txBody>
      </p:sp>
      <p:sp>
        <p:nvSpPr>
          <p:cNvPr id="24" name="Shape 21"/>
          <p:cNvSpPr/>
          <p:nvPr/>
        </p:nvSpPr>
        <p:spPr>
          <a:xfrm>
            <a:off x="8183880" y="3803904"/>
            <a:ext cx="27889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s-CL" dirty="0"/>
              <a:t>Refactorización</a:t>
            </a:r>
          </a:p>
        </p:txBody>
      </p:sp>
      <p:sp>
        <p:nvSpPr>
          <p:cNvPr id="25" name="Text 22"/>
          <p:cNvSpPr/>
          <p:nvPr/>
        </p:nvSpPr>
        <p:spPr>
          <a:xfrm>
            <a:off x="8321040" y="3922776"/>
            <a:ext cx="2468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60120" y="4416552"/>
            <a:ext cx="690372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1037844" y="4379976"/>
            <a:ext cx="6684264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Se construyen funcionalidades pequeñas y comprobables.</a:t>
            </a:r>
            <a:endParaRPr lang="en-US" sz="1230" dirty="0"/>
          </a:p>
        </p:txBody>
      </p:sp>
      <p:sp>
        <p:nvSpPr>
          <p:cNvPr id="29" name="Shape 26"/>
          <p:cNvSpPr/>
          <p:nvPr/>
        </p:nvSpPr>
        <p:spPr>
          <a:xfrm>
            <a:off x="8183880" y="4489704"/>
            <a:ext cx="278892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s-CL" dirty="0"/>
              <a:t>Entregas pequeñas</a:t>
            </a:r>
          </a:p>
        </p:txBody>
      </p:sp>
      <p:sp>
        <p:nvSpPr>
          <p:cNvPr id="30" name="Text 27"/>
          <p:cNvSpPr/>
          <p:nvPr/>
        </p:nvSpPr>
        <p:spPr>
          <a:xfrm>
            <a:off x="8321040" y="46085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: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14400" y="6016752"/>
            <a:ext cx="10195560" cy="347472"/>
          </a:xfrm>
          <a:prstGeom prst="rect">
            <a:avLst/>
          </a:prstGeom>
          <a:solidFill>
            <a:srgbClr val="EAF2F9"/>
          </a:solidFill>
          <a:ln w="12700">
            <a:solidFill>
              <a:srgbClr val="EAF2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987552" y="6094476"/>
            <a:ext cx="10058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Opciones: pruebas frecuentes · programación en parejas · integración continua · refactorización · entregas pequeñas</a:t>
            </a:r>
            <a:endParaRPr lang="en-US" sz="14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72BA5AE-8CBF-B124-20CB-0E5E4D2E6A3A}"/>
              </a:ext>
            </a:extLst>
          </p:cNvPr>
          <p:cNvSpPr txBox="1"/>
          <p:nvPr/>
        </p:nvSpPr>
        <p:spPr>
          <a:xfrm>
            <a:off x="8427248" y="1383863"/>
            <a:ext cx="2203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RESPUESTA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_render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0175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B67"/>
                </a:solidFill>
              </a:rPr>
              <a:t>4. ACTIVIDAD 4 · ¿QUÉ AYUDA NECESITA EL EQUIPO?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896112" y="868680"/>
            <a:ext cx="10378440" cy="530352"/>
          </a:xfrm>
          <a:prstGeom prst="rect">
            <a:avLst/>
          </a:prstGeom>
          <a:solidFill>
            <a:srgbClr val="FFF3D1"/>
          </a:solidFill>
          <a:ln w="12700">
            <a:solidFill>
              <a:srgbClr val="FFF3D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987552" y="98755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 err="1">
                <a:solidFill>
                  <a:srgbClr val="173B67"/>
                </a:solidFill>
              </a:rPr>
              <a:t>Identificar</a:t>
            </a:r>
            <a:r>
              <a:rPr lang="en-US" sz="1620" b="1" dirty="0">
                <a:solidFill>
                  <a:srgbClr val="173B67"/>
                </a:solidFill>
              </a:rPr>
              <a:t> el tipo de herramienta que podría apoyar cada necesidad.</a:t>
            </a:r>
            <a:endParaRPr lang="en-US" sz="1620" dirty="0"/>
          </a:p>
        </p:txBody>
      </p:sp>
      <p:sp>
        <p:nvSpPr>
          <p:cNvPr id="6" name="Shape 3"/>
          <p:cNvSpPr/>
          <p:nvPr/>
        </p:nvSpPr>
        <p:spPr>
          <a:xfrm>
            <a:off x="987552" y="1755648"/>
            <a:ext cx="5916168" cy="53035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1031039" y="1515777"/>
            <a:ext cx="529884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80" b="1" dirty="0" err="1">
                <a:solidFill>
                  <a:srgbClr val="173B67"/>
                </a:solidFill>
              </a:rPr>
              <a:t>Necesidad</a:t>
            </a:r>
            <a:r>
              <a:rPr lang="en-US" sz="1280" b="1" dirty="0">
                <a:solidFill>
                  <a:srgbClr val="173B67"/>
                </a:solidFill>
              </a:rPr>
              <a:t> </a:t>
            </a:r>
            <a:endParaRPr lang="en-US" sz="1280" dirty="0"/>
          </a:p>
        </p:txBody>
      </p:sp>
      <p:sp>
        <p:nvSpPr>
          <p:cNvPr id="8" name="Text 5"/>
          <p:cNvSpPr/>
          <p:nvPr/>
        </p:nvSpPr>
        <p:spPr>
          <a:xfrm>
            <a:off x="1069848" y="1805940"/>
            <a:ext cx="5724144" cy="4709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Dibujar un proceso o modelo del sistema.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7223760" y="1764792"/>
            <a:ext cx="38404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s-CL" dirty="0"/>
              <a:t>Diagramación</a:t>
            </a:r>
          </a:p>
        </p:txBody>
      </p:sp>
      <p:sp>
        <p:nvSpPr>
          <p:cNvPr id="10" name="Text 7"/>
          <p:cNvSpPr/>
          <p:nvPr/>
        </p:nvSpPr>
        <p:spPr>
          <a:xfrm>
            <a:off x="7360920" y="1501316"/>
            <a:ext cx="3566160" cy="236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Tipo de herramienta:</a:t>
            </a:r>
            <a:endParaRPr lang="en-US" sz="1200" b="1" dirty="0"/>
          </a:p>
        </p:txBody>
      </p:sp>
      <p:sp>
        <p:nvSpPr>
          <p:cNvPr id="11" name="Shape 8"/>
          <p:cNvSpPr/>
          <p:nvPr/>
        </p:nvSpPr>
        <p:spPr>
          <a:xfrm>
            <a:off x="960120" y="2377440"/>
            <a:ext cx="5943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1069848" y="2441448"/>
            <a:ext cx="5724144" cy="5257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 err="1">
                <a:solidFill>
                  <a:srgbClr val="111827"/>
                </a:solidFill>
              </a:rPr>
              <a:t>Diseñar</a:t>
            </a:r>
            <a:r>
              <a:rPr lang="en-US" sz="1230" dirty="0">
                <a:solidFill>
                  <a:srgbClr val="111827"/>
                </a:solidFill>
              </a:rPr>
              <a:t> un prototipo de una pantalla.</a:t>
            </a:r>
            <a:endParaRPr lang="en-US" sz="1230" dirty="0"/>
          </a:p>
        </p:txBody>
      </p:sp>
      <p:sp>
        <p:nvSpPr>
          <p:cNvPr id="14" name="Shape 11"/>
          <p:cNvSpPr/>
          <p:nvPr/>
        </p:nvSpPr>
        <p:spPr>
          <a:xfrm>
            <a:off x="7223760" y="2450592"/>
            <a:ext cx="38404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s-CL" dirty="0"/>
              <a:t>Prototipado</a:t>
            </a:r>
          </a:p>
        </p:txBody>
      </p:sp>
      <p:sp>
        <p:nvSpPr>
          <p:cNvPr id="15" name="Text 12"/>
          <p:cNvSpPr/>
          <p:nvPr/>
        </p:nvSpPr>
        <p:spPr>
          <a:xfrm>
            <a:off x="7360920" y="2569464"/>
            <a:ext cx="3566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60120" y="3063240"/>
            <a:ext cx="5943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1069848" y="3076956"/>
            <a:ext cx="5724144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Registrar tareas, responsables y avance.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7223760" y="3136392"/>
            <a:ext cx="38404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s-CL" dirty="0"/>
              <a:t>De gestión</a:t>
            </a:r>
          </a:p>
        </p:txBody>
      </p:sp>
      <p:sp>
        <p:nvSpPr>
          <p:cNvPr id="20" name="Text 17"/>
          <p:cNvSpPr/>
          <p:nvPr/>
        </p:nvSpPr>
        <p:spPr>
          <a:xfrm>
            <a:off x="7360920" y="32552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5943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1083564" y="3952494"/>
            <a:ext cx="5724144" cy="2697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 err="1">
                <a:solidFill>
                  <a:srgbClr val="111827"/>
                </a:solidFill>
              </a:rPr>
              <a:t>Controlar</a:t>
            </a:r>
            <a:r>
              <a:rPr lang="en-US" sz="1230" dirty="0">
                <a:solidFill>
                  <a:srgbClr val="111827"/>
                </a:solidFill>
              </a:rPr>
              <a:t> versiones del código.</a:t>
            </a:r>
            <a:endParaRPr lang="en-US" sz="1230" dirty="0"/>
          </a:p>
        </p:txBody>
      </p:sp>
      <p:sp>
        <p:nvSpPr>
          <p:cNvPr id="24" name="Shape 21"/>
          <p:cNvSpPr/>
          <p:nvPr/>
        </p:nvSpPr>
        <p:spPr>
          <a:xfrm>
            <a:off x="7223760" y="3822192"/>
            <a:ext cx="38404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s-CL" dirty="0"/>
              <a:t>Control de versiones</a:t>
            </a:r>
          </a:p>
        </p:txBody>
      </p:sp>
      <p:sp>
        <p:nvSpPr>
          <p:cNvPr id="25" name="Text 22"/>
          <p:cNvSpPr/>
          <p:nvPr/>
        </p:nvSpPr>
        <p:spPr>
          <a:xfrm>
            <a:off x="7360920" y="39410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60120" y="4434840"/>
            <a:ext cx="5943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1069848" y="4536567"/>
            <a:ext cx="5724144" cy="40919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Ejecutar y registrar pruebas.</a:t>
            </a:r>
            <a:endParaRPr lang="en-US" sz="1230" dirty="0"/>
          </a:p>
        </p:txBody>
      </p:sp>
      <p:sp>
        <p:nvSpPr>
          <p:cNvPr id="29" name="Shape 26"/>
          <p:cNvSpPr/>
          <p:nvPr/>
        </p:nvSpPr>
        <p:spPr>
          <a:xfrm>
            <a:off x="7223760" y="4507992"/>
            <a:ext cx="38404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s-CL" dirty="0"/>
              <a:t>De prueba</a:t>
            </a:r>
          </a:p>
        </p:txBody>
      </p:sp>
      <p:sp>
        <p:nvSpPr>
          <p:cNvPr id="30" name="Text 27"/>
          <p:cNvSpPr/>
          <p:nvPr/>
        </p:nvSpPr>
        <p:spPr>
          <a:xfrm>
            <a:off x="7360920" y="46268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14400" y="6016752"/>
            <a:ext cx="10195560" cy="347472"/>
          </a:xfrm>
          <a:prstGeom prst="rect">
            <a:avLst/>
          </a:prstGeom>
          <a:solidFill>
            <a:srgbClr val="EAF2F9"/>
          </a:solidFill>
          <a:ln w="12700">
            <a:solidFill>
              <a:srgbClr val="EAF2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987552" y="6094476"/>
            <a:ext cx="10058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111827"/>
                </a:solidFill>
              </a:rPr>
              <a:t>Tipos</a:t>
            </a:r>
            <a:r>
              <a:rPr lang="en-US" sz="1250" dirty="0">
                <a:solidFill>
                  <a:srgbClr val="111827"/>
                </a:solidFill>
              </a:rPr>
              <a:t> de </a:t>
            </a:r>
            <a:r>
              <a:rPr lang="en-US" sz="1250" dirty="0" err="1">
                <a:solidFill>
                  <a:srgbClr val="111827"/>
                </a:solidFill>
              </a:rPr>
              <a:t>herramientas</a:t>
            </a:r>
            <a:r>
              <a:rPr lang="en-US" sz="1250" dirty="0">
                <a:solidFill>
                  <a:srgbClr val="111827"/>
                </a:solidFill>
              </a:rPr>
              <a:t>: </a:t>
            </a:r>
            <a:r>
              <a:rPr lang="en-US" sz="1250" dirty="0" err="1">
                <a:solidFill>
                  <a:srgbClr val="111827"/>
                </a:solidFill>
              </a:rPr>
              <a:t>diagramación</a:t>
            </a:r>
            <a:r>
              <a:rPr lang="en-US" sz="1250" dirty="0">
                <a:solidFill>
                  <a:srgbClr val="111827"/>
                </a:solidFill>
              </a:rPr>
              <a:t>, </a:t>
            </a:r>
            <a:r>
              <a:rPr lang="en-US" sz="1250" dirty="0" err="1">
                <a:solidFill>
                  <a:srgbClr val="111827"/>
                </a:solidFill>
              </a:rPr>
              <a:t>prototipado</a:t>
            </a:r>
            <a:r>
              <a:rPr lang="en-US" sz="1250" dirty="0">
                <a:solidFill>
                  <a:srgbClr val="111827"/>
                </a:solidFill>
              </a:rPr>
              <a:t>, de </a:t>
            </a:r>
            <a:r>
              <a:rPr lang="en-US" sz="1250" dirty="0" err="1">
                <a:solidFill>
                  <a:srgbClr val="111827"/>
                </a:solidFill>
              </a:rPr>
              <a:t>gestión</a:t>
            </a:r>
            <a:r>
              <a:rPr lang="en-US" sz="1250" dirty="0">
                <a:solidFill>
                  <a:srgbClr val="111827"/>
                </a:solidFill>
              </a:rPr>
              <a:t>, control de versions, de </a:t>
            </a:r>
            <a:r>
              <a:rPr lang="en-US" sz="1250" dirty="0" err="1">
                <a:solidFill>
                  <a:srgbClr val="111827"/>
                </a:solidFill>
              </a:rPr>
              <a:t>prueba</a:t>
            </a:r>
            <a:r>
              <a:rPr lang="en-US" sz="1250" dirty="0">
                <a:solidFill>
                  <a:srgbClr val="111827"/>
                </a:solidFill>
              </a:rPr>
              <a:t> 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_render/slide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0175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3B67"/>
                </a:solidFill>
              </a:rPr>
              <a:t>5. ACTIVIDAD 5 - DETECTAR EL ERROR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896112" y="868680"/>
            <a:ext cx="10378440" cy="530352"/>
          </a:xfrm>
          <a:prstGeom prst="rect">
            <a:avLst/>
          </a:prstGeom>
          <a:solidFill>
            <a:srgbClr val="FFF3D1"/>
          </a:solidFill>
          <a:ln w="12700">
            <a:solidFill>
              <a:srgbClr val="FFF3D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987552" y="987552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20" b="1" dirty="0">
                <a:solidFill>
                  <a:srgbClr val="173B67"/>
                </a:solidFill>
              </a:rPr>
              <a:t>Marcar V o F y </a:t>
            </a:r>
            <a:r>
              <a:rPr lang="en-US" sz="1620" b="1" dirty="0" err="1">
                <a:solidFill>
                  <a:srgbClr val="173B67"/>
                </a:solidFill>
              </a:rPr>
              <a:t>corregir</a:t>
            </a:r>
            <a:r>
              <a:rPr lang="en-US" sz="1620" b="1" dirty="0">
                <a:solidFill>
                  <a:srgbClr val="173B67"/>
                </a:solidFill>
              </a:rPr>
              <a:t> las afirmaciones falsas.</a:t>
            </a:r>
            <a:endParaRPr lang="en-US" sz="1620" dirty="0"/>
          </a:p>
        </p:txBody>
      </p:sp>
      <p:sp>
        <p:nvSpPr>
          <p:cNvPr id="6" name="Shape 3"/>
          <p:cNvSpPr/>
          <p:nvPr/>
        </p:nvSpPr>
        <p:spPr>
          <a:xfrm>
            <a:off x="960120" y="1691640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1069848" y="1801368"/>
            <a:ext cx="7552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73B67"/>
                </a:solidFill>
              </a:rPr>
              <a:t>1</a:t>
            </a:r>
            <a:endParaRPr lang="en-US" sz="1280" dirty="0"/>
          </a:p>
        </p:txBody>
      </p:sp>
      <p:sp>
        <p:nvSpPr>
          <p:cNvPr id="8" name="Text 5"/>
          <p:cNvSpPr/>
          <p:nvPr/>
        </p:nvSpPr>
        <p:spPr>
          <a:xfrm>
            <a:off x="1477924" y="1797540"/>
            <a:ext cx="6538811" cy="4610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Scrum es un modelo tradicional.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9052560" y="1764792"/>
            <a:ext cx="6400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9308592" y="189280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B67"/>
                </a:solidFill>
              </a:rPr>
              <a:t>V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921240" y="1764792"/>
            <a:ext cx="640080" cy="41148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12" name="Text 9"/>
          <p:cNvSpPr/>
          <p:nvPr/>
        </p:nvSpPr>
        <p:spPr>
          <a:xfrm>
            <a:off x="10177272" y="189280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B67"/>
                </a:solidFill>
              </a:rPr>
              <a:t>F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60120" y="2377440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1069848" y="2487168"/>
            <a:ext cx="7552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73B67"/>
                </a:solidFill>
              </a:rPr>
              <a:t>2</a:t>
            </a:r>
            <a:endParaRPr lang="en-US" sz="1280" dirty="0"/>
          </a:p>
        </p:txBody>
      </p:sp>
      <p:sp>
        <p:nvSpPr>
          <p:cNvPr id="15" name="Text 12"/>
          <p:cNvSpPr/>
          <p:nvPr/>
        </p:nvSpPr>
        <p:spPr>
          <a:xfrm>
            <a:off x="1477924" y="2523744"/>
            <a:ext cx="7144868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El modelo espiral pone especial atención en los riesgos.</a:t>
            </a:r>
            <a:endParaRPr lang="en-US" sz="1230" dirty="0"/>
          </a:p>
        </p:txBody>
      </p:sp>
      <p:sp>
        <p:nvSpPr>
          <p:cNvPr id="16" name="Shape 13"/>
          <p:cNvSpPr/>
          <p:nvPr/>
        </p:nvSpPr>
        <p:spPr>
          <a:xfrm>
            <a:off x="9052560" y="2450592"/>
            <a:ext cx="640080" cy="41148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9308592" y="257860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B67"/>
                </a:solidFill>
              </a:rPr>
              <a:t>V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21240" y="2450592"/>
            <a:ext cx="6400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10177272" y="257860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B67"/>
                </a:solidFill>
              </a:rPr>
              <a:t>F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60120" y="3063240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1069848" y="3172968"/>
            <a:ext cx="7552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73B67"/>
                </a:solidFill>
              </a:rPr>
              <a:t>3</a:t>
            </a:r>
            <a:endParaRPr lang="en-US" sz="1280" dirty="0"/>
          </a:p>
        </p:txBody>
      </p:sp>
      <p:sp>
        <p:nvSpPr>
          <p:cNvPr id="22" name="Text 19"/>
          <p:cNvSpPr/>
          <p:nvPr/>
        </p:nvSpPr>
        <p:spPr>
          <a:xfrm>
            <a:off x="1477924" y="3136392"/>
            <a:ext cx="7552944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Prototipar significa construir inmediatamente el sistema definitivo.</a:t>
            </a:r>
            <a:endParaRPr lang="en-US" sz="1230" dirty="0"/>
          </a:p>
        </p:txBody>
      </p:sp>
      <p:sp>
        <p:nvSpPr>
          <p:cNvPr id="23" name="Shape 20"/>
          <p:cNvSpPr/>
          <p:nvPr/>
        </p:nvSpPr>
        <p:spPr>
          <a:xfrm>
            <a:off x="9052560" y="3136392"/>
            <a:ext cx="6400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9308592" y="326440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B67"/>
                </a:solidFill>
              </a:rPr>
              <a:t>V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921240" y="3136392"/>
            <a:ext cx="640080" cy="41148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10177272" y="326440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B67"/>
                </a:solidFill>
              </a:rPr>
              <a:t>F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60120" y="3715441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1069848" y="3858768"/>
            <a:ext cx="7552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73B67"/>
                </a:solidFill>
              </a:rPr>
              <a:t>4</a:t>
            </a:r>
            <a:endParaRPr lang="en-US" sz="1280" dirty="0"/>
          </a:p>
        </p:txBody>
      </p:sp>
      <p:sp>
        <p:nvSpPr>
          <p:cNvPr id="29" name="Text 26"/>
          <p:cNvSpPr/>
          <p:nvPr/>
        </p:nvSpPr>
        <p:spPr>
          <a:xfrm>
            <a:off x="1456639" y="3867912"/>
            <a:ext cx="7552944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XP incorpora prácticas orientadas a la calidad del código.</a:t>
            </a:r>
            <a:endParaRPr lang="en-US" sz="1230" dirty="0"/>
          </a:p>
        </p:txBody>
      </p:sp>
      <p:sp>
        <p:nvSpPr>
          <p:cNvPr id="30" name="Shape 27"/>
          <p:cNvSpPr/>
          <p:nvPr/>
        </p:nvSpPr>
        <p:spPr>
          <a:xfrm>
            <a:off x="9052560" y="3822192"/>
            <a:ext cx="640080" cy="41148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/>
          <p:nvPr/>
        </p:nvSpPr>
        <p:spPr>
          <a:xfrm>
            <a:off x="9308592" y="395020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B67"/>
                </a:solidFill>
              </a:rPr>
              <a:t>V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921240" y="3822192"/>
            <a:ext cx="6400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0"/>
          <p:cNvSpPr/>
          <p:nvPr/>
        </p:nvSpPr>
        <p:spPr>
          <a:xfrm>
            <a:off x="10177272" y="395020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B67"/>
                </a:solidFill>
              </a:rPr>
              <a:t>F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60120" y="4434840"/>
            <a:ext cx="7772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/>
          <p:nvPr/>
        </p:nvSpPr>
        <p:spPr>
          <a:xfrm>
            <a:off x="1069848" y="4544568"/>
            <a:ext cx="7552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173B67"/>
                </a:solidFill>
              </a:rPr>
              <a:t>5</a:t>
            </a:r>
            <a:endParaRPr lang="en-US" sz="1280" dirty="0"/>
          </a:p>
        </p:txBody>
      </p:sp>
      <p:sp>
        <p:nvSpPr>
          <p:cNvPr id="36" name="Text 33"/>
          <p:cNvSpPr/>
          <p:nvPr/>
        </p:nvSpPr>
        <p:spPr>
          <a:xfrm>
            <a:off x="1408176" y="4481198"/>
            <a:ext cx="7552944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11827"/>
                </a:solidFill>
              </a:rPr>
              <a:t>Una herramienta CASE reemplaza el trabajo del analista.</a:t>
            </a:r>
            <a:endParaRPr lang="en-US" sz="1230" dirty="0"/>
          </a:p>
        </p:txBody>
      </p:sp>
      <p:sp>
        <p:nvSpPr>
          <p:cNvPr id="37" name="Shape 34"/>
          <p:cNvSpPr/>
          <p:nvPr/>
        </p:nvSpPr>
        <p:spPr>
          <a:xfrm>
            <a:off x="9052560" y="4507992"/>
            <a:ext cx="6400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5"/>
          <p:cNvSpPr/>
          <p:nvPr/>
        </p:nvSpPr>
        <p:spPr>
          <a:xfrm>
            <a:off x="9308592" y="463600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B67"/>
                </a:solidFill>
              </a:rPr>
              <a:t>V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9921240" y="4507992"/>
            <a:ext cx="640080" cy="41148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7"/>
          <p:cNvSpPr/>
          <p:nvPr/>
        </p:nvSpPr>
        <p:spPr>
          <a:xfrm>
            <a:off x="10177272" y="463600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B67"/>
                </a:solidFill>
              </a:rPr>
              <a:t>F</a:t>
            </a:r>
            <a:endParaRPr lang="en-US" sz="11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clean_render/slide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228600"/>
            <a:ext cx="6720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 · ACTIVIDAD 6 - PROTOTIPO MÍNIMO DE UNA PANTALLA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" y="10972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 minutos · grupos de 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27760" y="1226040"/>
            <a:ext cx="10058400" cy="675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7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Caso: el estudiante necesita consultar su horario del período académico actual desde computador y móvil.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005840" y="2423160"/>
            <a:ext cx="4297680" cy="155448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 w="1016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1133856" y="2532888"/>
            <a:ext cx="4041648" cy="1335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s-MX" dirty="0">
                <a:solidFill>
                  <a:srgbClr val="17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r>
              <a:rPr lang="es-MX" sz="1800" dirty="0">
                <a:solidFill>
                  <a:srgbClr val="17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ibujar en una hoja o en este mismo PowerPoint una pantalla simple que muestre al menos: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17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asignatura</a:t>
            </a:r>
            <a:r>
              <a:rPr lang="en-US" sz="1800" dirty="0">
                <a:solidFill>
                  <a:srgbClr val="173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día, hora, sala y docente.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669280" y="2423159"/>
            <a:ext cx="4480560" cy="2329593"/>
          </a:xfrm>
          <a:prstGeom prst="roundRect">
            <a:avLst>
              <a:gd name="adj" fmla="val 3529"/>
            </a:avLst>
          </a:prstGeom>
          <a:solidFill>
            <a:srgbClr val="FFF7E0"/>
          </a:solidFill>
          <a:ln w="1016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5797296" y="2532888"/>
            <a:ext cx="4224528" cy="1335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384280" y="63276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9A9A"/>
                </a:solidFill>
              </a:rPr>
              <a:t>10</a:t>
            </a:r>
            <a:endParaRPr lang="en-US" sz="7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4CAC244-74D4-D9DB-D165-CF9C1074A347}"/>
              </a:ext>
            </a:extLst>
          </p:cNvPr>
          <p:cNvSpPr txBox="1"/>
          <p:nvPr/>
        </p:nvSpPr>
        <p:spPr>
          <a:xfrm>
            <a:off x="5672470" y="2444424"/>
            <a:ext cx="43493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Ejemplos de preguntas de validación</a:t>
            </a:r>
          </a:p>
          <a:p>
            <a:r>
              <a:rPr lang="es-MX" dirty="0"/>
              <a:t>¿La información mostrada es suficiente para saber dónde y cuándo debe asistir a clases?</a:t>
            </a:r>
          </a:p>
          <a:p>
            <a:r>
              <a:rPr lang="es-MX" dirty="0"/>
              <a:t>¿Esta organización resulta cómoda de consultar desde un teléfono móvil?</a:t>
            </a:r>
          </a:p>
          <a:p>
            <a:r>
              <a:rPr lang="es-MX" dirty="0"/>
              <a:t>¿Qué le preguntarían al usuario antes de desarrollar la pantalla definitiva?</a:t>
            </a:r>
          </a:p>
          <a:p>
            <a:endParaRPr lang="es-CL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08FCF44-F0C9-5C12-4E49-D120FAED3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77274"/>
              </p:ext>
            </p:extLst>
          </p:nvPr>
        </p:nvGraphicFramePr>
        <p:xfrm>
          <a:off x="344130" y="218440"/>
          <a:ext cx="8114891" cy="642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219">
                  <a:extLst>
                    <a:ext uri="{9D8B030D-6E8A-4147-A177-3AD203B41FA5}">
                      <a16:colId xmlns:a16="http://schemas.microsoft.com/office/drawing/2014/main" val="2942310085"/>
                    </a:ext>
                  </a:extLst>
                </a:gridCol>
                <a:gridCol w="993058">
                  <a:extLst>
                    <a:ext uri="{9D8B030D-6E8A-4147-A177-3AD203B41FA5}">
                      <a16:colId xmlns:a16="http://schemas.microsoft.com/office/drawing/2014/main" val="588193578"/>
                    </a:ext>
                  </a:extLst>
                </a:gridCol>
                <a:gridCol w="1170039">
                  <a:extLst>
                    <a:ext uri="{9D8B030D-6E8A-4147-A177-3AD203B41FA5}">
                      <a16:colId xmlns:a16="http://schemas.microsoft.com/office/drawing/2014/main" val="1345499300"/>
                    </a:ext>
                  </a:extLst>
                </a:gridCol>
                <a:gridCol w="1431765">
                  <a:extLst>
                    <a:ext uri="{9D8B030D-6E8A-4147-A177-3AD203B41FA5}">
                      <a16:colId xmlns:a16="http://schemas.microsoft.com/office/drawing/2014/main" val="1605061337"/>
                    </a:ext>
                  </a:extLst>
                </a:gridCol>
                <a:gridCol w="1159270">
                  <a:extLst>
                    <a:ext uri="{9D8B030D-6E8A-4147-A177-3AD203B41FA5}">
                      <a16:colId xmlns:a16="http://schemas.microsoft.com/office/drawing/2014/main" val="1664050337"/>
                    </a:ext>
                  </a:extLst>
                </a:gridCol>
                <a:gridCol w="1159270">
                  <a:extLst>
                    <a:ext uri="{9D8B030D-6E8A-4147-A177-3AD203B41FA5}">
                      <a16:colId xmlns:a16="http://schemas.microsoft.com/office/drawing/2014/main" val="825296441"/>
                    </a:ext>
                  </a:extLst>
                </a:gridCol>
                <a:gridCol w="1159270">
                  <a:extLst>
                    <a:ext uri="{9D8B030D-6E8A-4147-A177-3AD203B41FA5}">
                      <a16:colId xmlns:a16="http://schemas.microsoft.com/office/drawing/2014/main" val="3601087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s-C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Lunes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Martes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Miércoles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Jueves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Viernes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Sábado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695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08:10 – 08:50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Interfaz usuario</a:t>
                      </a:r>
                    </a:p>
                    <a:p>
                      <a:pPr algn="ctr"/>
                      <a:r>
                        <a:rPr lang="es-CL" sz="1000" dirty="0"/>
                        <a:t>(43934-2) – L301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Matemática</a:t>
                      </a:r>
                      <a:br>
                        <a:rPr lang="es-CL" sz="1000" dirty="0"/>
                      </a:br>
                      <a:r>
                        <a:rPr lang="es-CL" sz="1000" dirty="0"/>
                        <a:t>(20203-6) – S404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28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08:50 – 09:30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Matemática</a:t>
                      </a:r>
                      <a:br>
                        <a:rPr lang="es-CL" sz="1000" dirty="0"/>
                      </a:br>
                      <a:r>
                        <a:rPr lang="es-CL" sz="1000" dirty="0"/>
                        <a:t>(20203-6) – S404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Interfaz usuario</a:t>
                      </a:r>
                    </a:p>
                    <a:p>
                      <a:pPr algn="ctr"/>
                      <a:r>
                        <a:rPr lang="es-CL" sz="1000" dirty="0"/>
                        <a:t>(43934-2) – L301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000" dirty="0"/>
                        <a:t>Matemática</a:t>
                      </a:r>
                      <a:br>
                        <a:rPr lang="es-CL" sz="1000" dirty="0"/>
                      </a:br>
                      <a:r>
                        <a:rPr lang="es-CL" sz="1000" dirty="0"/>
                        <a:t>(20203-6) – S404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342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09:40 – 10:20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000" dirty="0"/>
                        <a:t>Matemática</a:t>
                      </a:r>
                      <a:br>
                        <a:rPr lang="es-CL" sz="1000" dirty="0"/>
                      </a:br>
                      <a:r>
                        <a:rPr lang="es-CL" sz="1000" dirty="0"/>
                        <a:t>(20203-6) – S404</a:t>
                      </a:r>
                    </a:p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Cont. Software</a:t>
                      </a:r>
                      <a:br>
                        <a:rPr lang="es-CL" sz="1000" dirty="0"/>
                      </a:br>
                      <a:r>
                        <a:rPr lang="es-CL" sz="1000" dirty="0"/>
                        <a:t>(39494-3) – L302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3801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10:20 – 11:00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Cont. Software</a:t>
                      </a:r>
                      <a:br>
                        <a:rPr lang="es-CL" sz="1000" dirty="0"/>
                      </a:br>
                      <a:r>
                        <a:rPr lang="es-CL" sz="1000" dirty="0"/>
                        <a:t>(39494-3) – L302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000" dirty="0"/>
                        <a:t>Cont. Software</a:t>
                      </a:r>
                      <a:br>
                        <a:rPr lang="es-CL" sz="1000" dirty="0"/>
                      </a:br>
                      <a:r>
                        <a:rPr lang="es-CL" sz="1000" dirty="0"/>
                        <a:t>(39494-3) – L302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9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11:10 – 11:50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000" dirty="0"/>
                        <a:t>Cont. Software</a:t>
                      </a:r>
                      <a:br>
                        <a:rPr lang="es-CL" sz="1000" dirty="0"/>
                      </a:br>
                      <a:r>
                        <a:rPr lang="es-CL" sz="1000" dirty="0"/>
                        <a:t>(39494-3) – L302</a:t>
                      </a:r>
                    </a:p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632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11:50 – 12:30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Interfaz usuario</a:t>
                      </a:r>
                    </a:p>
                    <a:p>
                      <a:pPr algn="ctr"/>
                      <a:r>
                        <a:rPr lang="es-CL" sz="1000" dirty="0"/>
                        <a:t>(43934-2) – L301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Interfaz usuario</a:t>
                      </a:r>
                    </a:p>
                    <a:p>
                      <a:pPr algn="ctr"/>
                      <a:r>
                        <a:rPr lang="es-CL" sz="1000" dirty="0"/>
                        <a:t>(43934-2) – L301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0764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13:00 – 13:40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Interfaz usuario</a:t>
                      </a:r>
                    </a:p>
                    <a:p>
                      <a:pPr algn="ctr"/>
                      <a:r>
                        <a:rPr lang="es-CL" sz="1000" dirty="0"/>
                        <a:t>(43934-2) – L301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Interfaz usuario</a:t>
                      </a:r>
                    </a:p>
                    <a:p>
                      <a:pPr algn="ctr"/>
                      <a:r>
                        <a:rPr lang="es-CL" sz="1000" dirty="0"/>
                        <a:t>(43934-2) – L301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353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13:40 – 14:20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Matemática</a:t>
                      </a:r>
                      <a:br>
                        <a:rPr lang="es-CL" sz="1000" dirty="0"/>
                      </a:br>
                      <a:r>
                        <a:rPr lang="es-CL" sz="1000" dirty="0"/>
                        <a:t>(20203-6) – S404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628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14:30 – 15:10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000" dirty="0"/>
                        <a:t>Matemática</a:t>
                      </a:r>
                      <a:br>
                        <a:rPr lang="es-CL" sz="1000" dirty="0"/>
                      </a:br>
                      <a:r>
                        <a:rPr lang="es-CL" sz="1000" dirty="0"/>
                        <a:t>(20203-6) – S404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944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15:10 – 15:50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6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16:00 – 16:40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071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000" dirty="0"/>
                        <a:t>16:40 – 17:20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CL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5623316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84ECA95-BA5D-90CC-0BAD-723ACD3E7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411895"/>
              </p:ext>
            </p:extLst>
          </p:nvPr>
        </p:nvGraphicFramePr>
        <p:xfrm>
          <a:off x="8615473" y="3946998"/>
          <a:ext cx="3468372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379">
                  <a:extLst>
                    <a:ext uri="{9D8B030D-6E8A-4147-A177-3AD203B41FA5}">
                      <a16:colId xmlns:a16="http://schemas.microsoft.com/office/drawing/2014/main" val="4019448630"/>
                    </a:ext>
                  </a:extLst>
                </a:gridCol>
                <a:gridCol w="1868993">
                  <a:extLst>
                    <a:ext uri="{9D8B030D-6E8A-4147-A177-3AD203B41FA5}">
                      <a16:colId xmlns:a16="http://schemas.microsoft.com/office/drawing/2014/main" val="476621250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s-CL" dirty="0"/>
                        <a:t>Docente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571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500" dirty="0"/>
                        <a:t>Matemáticas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500" dirty="0"/>
                        <a:t>Jorge Fernández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217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500" dirty="0"/>
                        <a:t>Cont.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500" dirty="0"/>
                        <a:t>Martín González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167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500" dirty="0"/>
                        <a:t>Interfaz usuario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500" dirty="0"/>
                        <a:t>Manuel </a:t>
                      </a:r>
                      <a:r>
                        <a:rPr lang="es-CL" sz="1500" dirty="0" err="1"/>
                        <a:t>Tornel</a:t>
                      </a:r>
                      <a:endParaRPr lang="es-CL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618476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E4FA3EEF-35DB-161B-4A4A-94596EAFE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5668" y="329381"/>
            <a:ext cx="2624291" cy="322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4885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746</Words>
  <Application>Microsoft Office PowerPoint</Application>
  <PresentationFormat>Panorámica</PresentationFormat>
  <Paragraphs>168</Paragraphs>
  <Slides>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Instituto Profesional Virginio Gómez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Actividades · Ciclos, modelos y herramientas</dc:title>
  <dc:subject>Actividades de clase: modelos, metodologías ágiles y herramientas CASE</dc:subject>
  <dc:creator>XX</dc:creator>
  <cp:lastModifiedBy>Alumnos</cp:lastModifiedBy>
  <cp:revision>13</cp:revision>
  <dcterms:created xsi:type="dcterms:W3CDTF">2026-09-02T04:01:05Z</dcterms:created>
  <dcterms:modified xsi:type="dcterms:W3CDTF">2026-09-02T19:55:15Z</dcterms:modified>
</cp:coreProperties>
</file>